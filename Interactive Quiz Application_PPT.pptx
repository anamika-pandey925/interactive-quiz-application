
<file path=[Content_Types].xml><?xml version="1.0" encoding="utf-8"?>
<Types xmlns="http://schemas.openxmlformats.org/package/2006/content-types">
  <Default Extension="bmp" ContentType="image/bmp"/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46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66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bmp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bmp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1" y="0"/>
            <a:ext cx="12192000" cy="6858000"/>
          </a:xfrm>
          <a:prstGeom prst="rect">
            <a:avLst/>
          </a:prstGeom>
          <a:blipFill dpi="0" rotWithShape="1">
            <a:blip r:embed="rId2">
              <a:alphaModFix amt="45000"/>
              <a:duotone>
                <a:schemeClr val="accent2">
                  <a:shade val="45000"/>
                  <a:satMod val="135000"/>
                </a:schemeClr>
                <a:prstClr val="white"/>
              </a:duotone>
            </a:blip>
            <a:srcRect/>
            <a:tile tx="-31750" ty="-120650" sx="100000" sy="100000" flip="xy" algn="tl"/>
          </a:blipFill>
          <a:ln w="19050" cmpd="sng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solidFill>
            <a:schemeClr val="tx1"/>
          </a:solidFill>
          <a:ln w="6350" cap="flat" cmpd="sng" algn="ctr">
            <a:solidFill>
              <a:schemeClr val="tx1">
                <a:lumMod val="65000"/>
                <a:lumOff val="35000"/>
              </a:schemeClr>
            </a:solidFill>
            <a:prstDash val="solid"/>
          </a:ln>
          <a:effectLst>
            <a:outerShdw blurRad="63500" algn="ctr" rotWithShape="0">
              <a:prstClr val="black">
                <a:alpha val="40000"/>
              </a:prstClr>
            </a:outerShdw>
            <a:softEdge rad="0"/>
          </a:effectLst>
        </p:spPr>
      </p:sp>
      <p:sp>
        <p:nvSpPr>
          <p:cNvPr id="11" name="Rectangle 10"/>
          <p:cNvSpPr/>
          <p:nvPr/>
        </p:nvSpPr>
        <p:spPr>
          <a:xfrm>
            <a:off x="1447801" y="1411615"/>
            <a:ext cx="9296400" cy="4034770"/>
          </a:xfrm>
          <a:prstGeom prst="rect">
            <a:avLst/>
          </a:prstGeom>
          <a:solidFill>
            <a:schemeClr val="bg2"/>
          </a:solidFill>
          <a:ln w="9525" cap="sq" cmpd="sng" algn="ctr">
            <a:noFill/>
            <a:prstDash val="solid"/>
            <a:miter lim="800000"/>
          </a:ln>
          <a:effectLst/>
        </p:spPr>
      </p:sp>
      <p:sp>
        <p:nvSpPr>
          <p:cNvPr id="15" name="Rectangle 14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50800" dist="127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4" name="Group 3"/>
          <p:cNvGrpSpPr/>
          <p:nvPr/>
        </p:nvGrpSpPr>
        <p:grpSpPr>
          <a:xfrm>
            <a:off x="5250180" y="1267730"/>
            <a:ext cx="1691640" cy="645295"/>
            <a:chOff x="5318306" y="1386268"/>
            <a:chExt cx="1567331" cy="645295"/>
          </a:xfrm>
        </p:grpSpPr>
        <p:cxnSp>
          <p:nvCxnSpPr>
            <p:cNvPr id="17" name="Straight Connector 16"/>
            <p:cNvCxnSpPr/>
            <p:nvPr/>
          </p:nvCxnSpPr>
          <p:spPr>
            <a:xfrm>
              <a:off x="5318306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6885637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5318306" y="2031563"/>
              <a:ext cx="1567331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61708" y="2091263"/>
            <a:ext cx="9068586" cy="2590800"/>
          </a:xfrm>
        </p:spPr>
        <p:txBody>
          <a:bodyPr tIns="45720" bIns="45720" anchor="ctr">
            <a:noAutofit/>
          </a:bodyPr>
          <a:lstStyle>
            <a:lvl1pPr algn="ctr">
              <a:lnSpc>
                <a:spcPct val="83000"/>
              </a:lnSpc>
              <a:defRPr lang="en-US" sz="7200" b="0" kern="1200" cap="all" spc="-100" baseline="0" dirty="0">
                <a:solidFill>
                  <a:schemeClr val="tx1"/>
                </a:solidFill>
                <a:effectLst>
                  <a:outerShdw blurRad="38100" dist="127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+mn-ea"/>
                <a:cs typeface="+mn-cs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62100" y="4682062"/>
            <a:ext cx="9070848" cy="457201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1600" spc="80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20" name="Date Placeholder 19"/>
          <p:cNvSpPr>
            <a:spLocks noGrp="1"/>
          </p:cNvSpPr>
          <p:nvPr>
            <p:ph type="dt" sz="half" idx="10"/>
          </p:nvPr>
        </p:nvSpPr>
        <p:spPr>
          <a:xfrm>
            <a:off x="5318760" y="1341255"/>
            <a:ext cx="1554480" cy="527213"/>
          </a:xfrm>
        </p:spPr>
        <p:txBody>
          <a:bodyPr/>
          <a:lstStyle>
            <a:lvl1pPr algn="ctr">
              <a:defRPr sz="1300" spc="0" baseline="0">
                <a:solidFill>
                  <a:srgbClr val="FFFFFF"/>
                </a:solidFill>
                <a:latin typeface="+mn-lt"/>
              </a:defRPr>
            </a:lvl1pPr>
          </a:lstStyle>
          <a:p>
            <a:fld id="{2735976D-992B-4C25-B9DA-C80E1CC5E898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1"/>
          </p:nvPr>
        </p:nvSpPr>
        <p:spPr>
          <a:xfrm>
            <a:off x="1453896" y="5212080"/>
            <a:ext cx="5905500" cy="228600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2"/>
          </p:nvPr>
        </p:nvSpPr>
        <p:spPr>
          <a:xfrm>
            <a:off x="8606919" y="5212080"/>
            <a:ext cx="2111881" cy="2286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ED0F2D57-6CFE-46C6-A866-D42C39FF74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36198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1800"/>
            </a:lvl1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735976D-992B-4C25-B9DA-C80E1CC5E898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ED0F2D57-6CFE-46C6-A866-D42C39FF74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08565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2">
              <a:alphaModFix amt="40000"/>
              <a:duotone>
                <a:schemeClr val="accent3">
                  <a:shade val="45000"/>
                  <a:satMod val="135000"/>
                </a:schemeClr>
                <a:prstClr val="white"/>
              </a:duotone>
            </a:blip>
            <a:srcRect/>
            <a:tile tx="-31750" ty="-120650" sx="100000" sy="100000" flip="xy" algn="tl"/>
          </a:blipFill>
          <a:ln w="19050" cmpd="sng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3" name="Rectangle 22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solidFill>
            <a:schemeClr val="tx1"/>
          </a:solidFill>
          <a:ln w="6350" cap="flat" cmpd="sng" algn="ctr">
            <a:solidFill>
              <a:schemeClr val="tx1">
                <a:lumMod val="65000"/>
                <a:lumOff val="35000"/>
              </a:schemeClr>
            </a:solidFill>
            <a:prstDash val="solid"/>
          </a:ln>
          <a:effectLst>
            <a:outerShdw blurRad="63500" algn="ctr" rotWithShape="0">
              <a:prstClr val="black">
                <a:alpha val="40000"/>
              </a:prstClr>
            </a:outerShdw>
            <a:softEdge rad="0"/>
          </a:effectLst>
        </p:spPr>
      </p:sp>
      <p:sp>
        <p:nvSpPr>
          <p:cNvPr id="24" name="Rectangle 23"/>
          <p:cNvSpPr/>
          <p:nvPr/>
        </p:nvSpPr>
        <p:spPr>
          <a:xfrm>
            <a:off x="1447801" y="1411615"/>
            <a:ext cx="9296400" cy="4034770"/>
          </a:xfrm>
          <a:prstGeom prst="rect">
            <a:avLst/>
          </a:prstGeom>
          <a:solidFill>
            <a:schemeClr val="bg2"/>
          </a:solidFill>
          <a:ln w="9525" cap="sq" cmpd="sng" algn="ctr">
            <a:noFill/>
            <a:prstDash val="solid"/>
            <a:miter lim="800000"/>
          </a:ln>
          <a:effectLst/>
        </p:spPr>
      </p:sp>
      <p:sp>
        <p:nvSpPr>
          <p:cNvPr id="30" name="Rectangle 29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50800" dist="127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31" name="Group 30"/>
          <p:cNvGrpSpPr/>
          <p:nvPr/>
        </p:nvGrpSpPr>
        <p:grpSpPr>
          <a:xfrm>
            <a:off x="5250180" y="1267730"/>
            <a:ext cx="1691640" cy="645295"/>
            <a:chOff x="5318306" y="1386268"/>
            <a:chExt cx="1567331" cy="645295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5318306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/>
          </p:nvCxnSpPr>
          <p:spPr>
            <a:xfrm>
              <a:off x="6885637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/>
          </p:nvCxnSpPr>
          <p:spPr>
            <a:xfrm>
              <a:off x="5318306" y="2031563"/>
              <a:ext cx="1567331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3623" y="2094309"/>
            <a:ext cx="9070848" cy="2587752"/>
          </a:xfrm>
        </p:spPr>
        <p:txBody>
          <a:bodyPr anchor="ctr">
            <a:noAutofit/>
          </a:bodyPr>
          <a:lstStyle>
            <a:lvl1pPr algn="ctr">
              <a:lnSpc>
                <a:spcPct val="83000"/>
              </a:lnSpc>
              <a:defRPr lang="en-US" sz="7200" b="0" kern="1200" cap="all" spc="-100" baseline="0" dirty="0">
                <a:solidFill>
                  <a:schemeClr val="tx1"/>
                </a:solidFill>
                <a:effectLst>
                  <a:outerShdw blurRad="38100" dist="127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+mn-ea"/>
                <a:cs typeface="+mn-cs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63624" y="4682062"/>
            <a:ext cx="9070848" cy="457200"/>
          </a:xfrm>
        </p:spPr>
        <p:txBody>
          <a:bodyPr anchor="t">
            <a:normAutofit/>
          </a:bodyPr>
          <a:lstStyle>
            <a:lvl1pPr marL="0" indent="0" algn="ctr">
              <a:buNone/>
              <a:tabLst>
                <a:tab pos="2633663" algn="l"/>
              </a:tabLst>
              <a:defRPr sz="1600">
                <a:solidFill>
                  <a:schemeClr val="tx2"/>
                </a:solidFill>
                <a:effectLst/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321808" y="1344502"/>
            <a:ext cx="1554480" cy="530352"/>
          </a:xfrm>
        </p:spPr>
        <p:txBody>
          <a:bodyPr/>
          <a:lstStyle>
            <a:lvl1pPr algn="ctr">
              <a:defRPr lang="en-US" sz="1300" kern="1200" spc="0" baseline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</a:lstStyle>
          <a:p>
            <a:fld id="{2735976D-992B-4C25-B9DA-C80E1CC5E898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453896" y="5212080"/>
            <a:ext cx="5907024" cy="228600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04504" y="5212080"/>
            <a:ext cx="2112264" cy="2286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ED0F2D57-6CFE-46C6-A866-D42C39FF74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69200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6800" y="2103120"/>
            <a:ext cx="475488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70320" y="2103120"/>
            <a:ext cx="475488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735976D-992B-4C25-B9DA-C80E1CC5E898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ED0F2D57-6CFE-46C6-A866-D42C39FF74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90826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074334"/>
            <a:ext cx="4754880" cy="64008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1800" b="0">
                <a:solidFill>
                  <a:schemeClr val="tx2"/>
                </a:solidFill>
                <a:latin typeface="+mn-lt"/>
              </a:defRPr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55898"/>
            <a:ext cx="4754880" cy="32004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73368" y="2074334"/>
            <a:ext cx="4754880" cy="64008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1800" b="0">
                <a:solidFill>
                  <a:schemeClr val="tx2"/>
                </a:solidFill>
              </a:defRPr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73368" y="2756581"/>
            <a:ext cx="4754880" cy="32004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735976D-992B-4C25-B9DA-C80E1CC5E898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ED0F2D57-6CFE-46C6-A866-D42C39FF74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92861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735976D-992B-4C25-B9DA-C80E1CC5E898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ED0F2D57-6CFE-46C6-A866-D42C39FF74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21899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735976D-992B-4C25-B9DA-C80E1CC5E898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ED0F2D57-6CFE-46C6-A866-D42C39FF74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75206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234693" y="237744"/>
            <a:ext cx="8633081" cy="6382512"/>
          </a:xfrm>
          <a:prstGeom prst="rect">
            <a:avLst/>
          </a:prstGeom>
          <a:solidFill>
            <a:schemeClr val="tx1"/>
          </a:solidFill>
          <a:ln w="6350" cap="flat" cmpd="sng" algn="ctr">
            <a:solidFill>
              <a:schemeClr val="tx1">
                <a:lumMod val="75000"/>
              </a:schemeClr>
            </a:solidFill>
            <a:prstDash val="solid"/>
          </a:ln>
          <a:effectLst>
            <a:softEdge rad="0"/>
          </a:effectLst>
        </p:spPr>
      </p:sp>
      <p:sp>
        <p:nvSpPr>
          <p:cNvPr id="16" name="Rectangle 15"/>
          <p:cNvSpPr/>
          <p:nvPr/>
        </p:nvSpPr>
        <p:spPr>
          <a:xfrm>
            <a:off x="371856" y="374904"/>
            <a:ext cx="8353044" cy="6108192"/>
          </a:xfrm>
          <a:prstGeom prst="rect">
            <a:avLst/>
          </a:prstGeom>
          <a:solidFill>
            <a:schemeClr val="bg2"/>
          </a:solidFill>
          <a:ln w="6350" cap="sq" cmpd="sng" algn="ctr">
            <a:noFill/>
            <a:prstDash val="solid"/>
            <a:miter lim="800000"/>
          </a:ln>
          <a:effectLst/>
        </p:spPr>
      </p:sp>
      <p:sp>
        <p:nvSpPr>
          <p:cNvPr id="15" name="Rectangle 14"/>
          <p:cNvSpPr/>
          <p:nvPr/>
        </p:nvSpPr>
        <p:spPr>
          <a:xfrm>
            <a:off x="9020386" y="237744"/>
            <a:ext cx="2926080" cy="6382512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96400" y="607392"/>
            <a:ext cx="2430780" cy="1645920"/>
          </a:xfrm>
        </p:spPr>
        <p:txBody>
          <a:bodyPr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b="0" kern="1200" cap="none" spc="0" baseline="0" dirty="0">
                <a:solidFill>
                  <a:schemeClr val="bg1"/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90575" y="704850"/>
            <a:ext cx="7562850" cy="5143500"/>
          </a:xfrm>
        </p:spPr>
        <p:txBody>
          <a:bodyPr/>
          <a:lstStyle>
            <a:lvl1pPr>
              <a:defRPr sz="19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296400" y="2286000"/>
            <a:ext cx="2430780" cy="3505200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spcBef>
                <a:spcPts val="80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735976D-992B-4C25-B9DA-C80E1CC5E898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439158" y="6214535"/>
            <a:ext cx="5184648" cy="256032"/>
          </a:xfrm>
        </p:spPr>
        <p:txBody>
          <a:bodyPr/>
          <a:lstStyle>
            <a:lvl1pPr algn="r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ED0F2D57-6CFE-46C6-A866-D42C39FF7408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9157546" y="374904"/>
            <a:ext cx="2651760" cy="6108192"/>
          </a:xfrm>
          <a:prstGeom prst="rect">
            <a:avLst/>
          </a:prstGeom>
          <a:noFill/>
          <a:ln w="6350" cap="sq">
            <a:solidFill>
              <a:schemeClr val="tx1">
                <a:lumMod val="65000"/>
                <a:lumOff val="3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7050907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9020386" y="237744"/>
            <a:ext cx="2926080" cy="6382512"/>
          </a:xfrm>
          <a:prstGeom prst="rect">
            <a:avLst/>
          </a:prstGeom>
          <a:solidFill>
            <a:schemeClr val="tx1"/>
          </a:solidFill>
          <a:ln w="6350" cap="sq">
            <a:solidFill>
              <a:schemeClr val="tx1">
                <a:lumMod val="7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9157546" y="374904"/>
            <a:ext cx="2651760" cy="6108192"/>
          </a:xfrm>
          <a:prstGeom prst="rect">
            <a:avLst/>
          </a:prstGeom>
          <a:solidFill>
            <a:schemeClr val="bg2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96400" y="603504"/>
            <a:ext cx="2432304" cy="1645920"/>
          </a:xfrm>
        </p:spPr>
        <p:txBody>
          <a:bodyPr anchor="b">
            <a:noAutofit/>
          </a:bodyPr>
          <a:lstStyle>
            <a:lvl1pPr algn="l">
              <a:defRPr sz="2800" b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28599" y="237744"/>
            <a:ext cx="8601076" cy="6382512"/>
          </a:xfrm>
          <a:solidFill>
            <a:srgbClr val="808080"/>
          </a:solidFill>
          <a:ln>
            <a:noFill/>
          </a:ln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296400" y="2286000"/>
            <a:ext cx="2432304" cy="3502152"/>
          </a:xfrm>
        </p:spPr>
        <p:txBody>
          <a:bodyPr>
            <a:normAutofit/>
          </a:bodyPr>
          <a:lstStyle>
            <a:lvl1pPr marL="0" indent="0" algn="l">
              <a:lnSpc>
                <a:spcPct val="110000"/>
              </a:lnSpc>
              <a:spcBef>
                <a:spcPts val="800"/>
              </a:spcBef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19050" dist="635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fld id="{2735976D-992B-4C25-B9DA-C80E1CC5E898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marL="0" algn="r" defTabSz="914400" rtl="0" eaLnBrk="1" latinLnBrk="0" hangingPunct="1">
              <a:defRPr lang="en-US" sz="1000" kern="1200" dirty="0">
                <a:solidFill>
                  <a:srgbClr val="FFFFFF"/>
                </a:solidFill>
                <a:effectLst>
                  <a:outerShdw blurRad="19050" dist="6350" dir="2700000" algn="tl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ED0F2D57-6CFE-46C6-A866-D42C39FF74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54351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735976D-992B-4C25-B9DA-C80E1CC5E898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ED0F2D57-6CFE-46C6-A866-D42C39FF74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66777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1600" y="762000"/>
            <a:ext cx="2362200" cy="52578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762000"/>
            <a:ext cx="8077200" cy="5257800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735976D-992B-4C25-B9DA-C80E1CC5E898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ED0F2D57-6CFE-46C6-A866-D42C39FF74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82340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4696" y="237744"/>
            <a:ext cx="11722608" cy="6382512"/>
          </a:xfrm>
          <a:prstGeom prst="rect">
            <a:avLst/>
          </a:prstGeom>
          <a:solidFill>
            <a:schemeClr val="tx1"/>
          </a:solidFill>
          <a:ln w="6350" cap="flat" cmpd="sng" algn="ctr">
            <a:solidFill>
              <a:schemeClr val="tx1">
                <a:lumMod val="75000"/>
              </a:schemeClr>
            </a:solidFill>
            <a:prstDash val="solid"/>
          </a:ln>
          <a:effectLst>
            <a:softEdge rad="0"/>
          </a:effectLst>
        </p:spPr>
      </p:sp>
      <p:sp>
        <p:nvSpPr>
          <p:cNvPr id="8" name="Rectangle 7"/>
          <p:cNvSpPr/>
          <p:nvPr/>
        </p:nvSpPr>
        <p:spPr>
          <a:xfrm>
            <a:off x="371856" y="374904"/>
            <a:ext cx="11448288" cy="6108192"/>
          </a:xfrm>
          <a:prstGeom prst="rect">
            <a:avLst/>
          </a:prstGeom>
          <a:solidFill>
            <a:schemeClr val="bg2"/>
          </a:solidFill>
          <a:ln w="6350" cap="sq" cmpd="sng" algn="ctr">
            <a:noFill/>
            <a:prstDash val="solid"/>
            <a:miter lim="800000"/>
          </a:ln>
          <a:effectLst/>
        </p:spPr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6800" y="642594"/>
            <a:ext cx="10058400" cy="1371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103120"/>
            <a:ext cx="10058400" cy="39319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89464" y="6214535"/>
            <a:ext cx="2743200" cy="2560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>
                <a:solidFill>
                  <a:schemeClr val="bg2"/>
                </a:solidFill>
              </a:defRPr>
            </a:lvl1pPr>
          </a:lstStyle>
          <a:p>
            <a:fld id="{2735976D-992B-4C25-B9DA-C80E1CC5E898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89960" y="6214535"/>
            <a:ext cx="5212080" cy="2560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1000">
                <a:solidFill>
                  <a:schemeClr val="bg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48535" y="6214535"/>
            <a:ext cx="1463040" cy="2560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>
                <a:solidFill>
                  <a:schemeClr val="bg2"/>
                </a:solidFill>
              </a:defRPr>
            </a:lvl1pPr>
          </a:lstStyle>
          <a:p>
            <a:fld id="{ED0F2D57-6CFE-46C6-A866-D42C39FF74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005046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47" r:id="rId1"/>
    <p:sldLayoutId id="2147483848" r:id="rId2"/>
    <p:sldLayoutId id="2147483849" r:id="rId3"/>
    <p:sldLayoutId id="2147483850" r:id="rId4"/>
    <p:sldLayoutId id="2147483851" r:id="rId5"/>
    <p:sldLayoutId id="2147483852" r:id="rId6"/>
    <p:sldLayoutId id="2147483853" r:id="rId7"/>
    <p:sldLayoutId id="2147483854" r:id="rId8"/>
    <p:sldLayoutId id="2147483855" r:id="rId9"/>
    <p:sldLayoutId id="2147483856" r:id="rId10"/>
    <p:sldLayoutId id="214748385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4800" kern="1200" cap="none" spc="0" baseline="0" dirty="0">
          <a:solidFill>
            <a:schemeClr val="tx1"/>
          </a:solidFill>
          <a:effectLst/>
          <a:latin typeface="+mj-lt"/>
          <a:ea typeface="+mn-ea"/>
          <a:cs typeface="+mn-cs"/>
        </a:defRPr>
      </a:lvl1pPr>
    </p:titleStyle>
    <p:bodyStyle>
      <a:lvl1pPr marL="182880" indent="-182880" algn="l" defTabSz="914400" rtl="0" eaLnBrk="1" latinLnBrk="0" hangingPunct="1">
        <a:lnSpc>
          <a:spcPct val="100000"/>
        </a:lnSpc>
        <a:spcBef>
          <a:spcPts val="900"/>
        </a:spcBef>
        <a:spcAft>
          <a:spcPts val="0"/>
        </a:spcAft>
        <a:buClr>
          <a:schemeClr val="tx2">
            <a:lumMod val="60000"/>
            <a:lumOff val="40000"/>
          </a:schemeClr>
        </a:buClr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2">
            <a:lumMod val="60000"/>
            <a:lumOff val="40000"/>
          </a:schemeClr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2">
            <a:lumMod val="60000"/>
            <a:lumOff val="40000"/>
          </a:schemeClr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2">
            <a:lumMod val="60000"/>
            <a:lumOff val="40000"/>
          </a:schemeClr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2">
            <a:lumMod val="60000"/>
            <a:lumOff val="40000"/>
          </a:schemeClr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2">
            <a:lumMod val="60000"/>
            <a:lumOff val="40000"/>
          </a:schemeClr>
        </a:buClr>
        <a:buFont typeface="Arial" pitchFamily="34" charset="0"/>
        <a:buChar char="•"/>
        <a:defRPr sz="1400" kern="1200">
          <a:solidFill>
            <a:schemeClr val="bg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2">
            <a:lumMod val="60000"/>
            <a:lumOff val="40000"/>
          </a:schemeClr>
        </a:buClr>
        <a:buFont typeface="Arial" pitchFamily="34" charset="0"/>
        <a:buChar char="•"/>
        <a:defRPr sz="1400" kern="1200">
          <a:solidFill>
            <a:schemeClr val="bg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2">
            <a:lumMod val="60000"/>
            <a:lumOff val="40000"/>
          </a:schemeClr>
        </a:buClr>
        <a:buFont typeface="Arial" pitchFamily="34" charset="0"/>
        <a:buChar char="•"/>
        <a:defRPr sz="1400" kern="1200">
          <a:solidFill>
            <a:schemeClr val="bg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2">
            <a:lumMod val="60000"/>
            <a:lumOff val="40000"/>
          </a:schemeClr>
        </a:buClr>
        <a:buFont typeface="Arial" pitchFamily="34" charset="0"/>
        <a:buChar char="•"/>
        <a:defRPr sz="1400" kern="1200">
          <a:solidFill>
            <a:schemeClr val="bg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Interactive Quiz Application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A Web-Based Learning and Assessment Platform</a:t>
            </a:r>
            <a:endParaRPr lang="en-US" b="1" dirty="0"/>
          </a:p>
        </p:txBody>
      </p:sp>
      <p:sp>
        <p:nvSpPr>
          <p:cNvPr id="4" name="TextBox 3"/>
          <p:cNvSpPr txBox="1"/>
          <p:nvPr/>
        </p:nvSpPr>
        <p:spPr>
          <a:xfrm>
            <a:off x="7341704" y="5883965"/>
            <a:ext cx="43202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chemeClr val="accent1">
                    <a:lumMod val="50000"/>
                  </a:schemeClr>
                </a:solidFill>
              </a:rPr>
              <a:t>Presented by Paras Sharma</a:t>
            </a:r>
            <a:endParaRPr lang="en-US" b="1" dirty="0">
              <a:solidFill>
                <a:schemeClr val="accent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253549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932382" y="888448"/>
            <a:ext cx="3171061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78D7"/>
                </a:solidFill>
              </a:defRPr>
            </a:pPr>
            <a:r>
              <a:rPr lang="en-US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Introduction</a:t>
            </a:r>
            <a:endParaRPr lang="en-US" dirty="0"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932382" y="1838454"/>
            <a:ext cx="10257183" cy="29546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GB" dirty="0" smtClean="0"/>
          </a:p>
          <a:p>
            <a:pPr>
              <a:defRPr sz="2400">
                <a:solidFill>
                  <a:srgbClr val="1E1E1E"/>
                </a:solidFill>
              </a:defRPr>
            </a:pPr>
            <a:r>
              <a:rPr lang="en-GB" dirty="0">
                <a:solidFill>
                  <a:schemeClr val="tx1">
                    <a:lumMod val="95000"/>
                  </a:schemeClr>
                </a:solidFill>
              </a:rPr>
              <a:t>The Interactive Quiz Application is a web-based platform </a:t>
            </a:r>
          </a:p>
          <a:p>
            <a:pPr>
              <a:defRPr sz="2400">
                <a:solidFill>
                  <a:srgbClr val="1E1E1E"/>
                </a:solidFill>
              </a:defRPr>
            </a:pPr>
            <a:r>
              <a:rPr lang="en-GB" dirty="0">
                <a:solidFill>
                  <a:schemeClr val="tx1">
                    <a:lumMod val="95000"/>
                  </a:schemeClr>
                </a:solidFill>
              </a:rPr>
              <a:t>designed to help users practice multiple‑choice questions in a </a:t>
            </a:r>
          </a:p>
          <a:p>
            <a:pPr>
              <a:defRPr sz="2400">
                <a:solidFill>
                  <a:srgbClr val="1E1E1E"/>
                </a:solidFill>
              </a:defRPr>
            </a:pPr>
            <a:r>
              <a:rPr lang="en-GB" dirty="0">
                <a:solidFill>
                  <a:schemeClr val="tx1">
                    <a:lumMod val="95000"/>
                  </a:schemeClr>
                </a:solidFill>
              </a:rPr>
              <a:t>simple, fast, and interactive way. It allows learners </a:t>
            </a:r>
          </a:p>
          <a:p>
            <a:pPr>
              <a:defRPr sz="2400">
                <a:solidFill>
                  <a:srgbClr val="1E1E1E"/>
                </a:solidFill>
              </a:defRPr>
            </a:pPr>
            <a:r>
              <a:rPr lang="en-GB" dirty="0">
                <a:solidFill>
                  <a:schemeClr val="tx1">
                    <a:lumMod val="95000"/>
                  </a:schemeClr>
                </a:solidFill>
              </a:rPr>
              <a:t>to select a topic, attempt quizzes, and instantly view their scores. </a:t>
            </a:r>
          </a:p>
          <a:p>
            <a:pPr>
              <a:defRPr sz="2400">
                <a:solidFill>
                  <a:srgbClr val="1E1E1E"/>
                </a:solidFill>
              </a:defRPr>
            </a:pPr>
            <a:r>
              <a:rPr lang="en-GB" dirty="0">
                <a:solidFill>
                  <a:schemeClr val="tx1">
                    <a:lumMod val="95000"/>
                  </a:schemeClr>
                </a:solidFill>
              </a:rPr>
              <a:t>Built using HTML, CSS, and JavaScript, the application ensures </a:t>
            </a:r>
          </a:p>
          <a:p>
            <a:pPr>
              <a:defRPr sz="2400">
                <a:solidFill>
                  <a:srgbClr val="1E1E1E"/>
                </a:solidFill>
              </a:defRPr>
            </a:pPr>
            <a:r>
              <a:rPr lang="en-GB" dirty="0">
                <a:solidFill>
                  <a:schemeClr val="tx1">
                    <a:lumMod val="95000"/>
                  </a:schemeClr>
                </a:solidFill>
              </a:rPr>
              <a:t>a smooth user experience while supporting responsive </a:t>
            </a:r>
            <a:r>
              <a:rPr lang="en-GB" dirty="0" smtClean="0">
                <a:solidFill>
                  <a:schemeClr val="tx1">
                    <a:lumMod val="95000"/>
                  </a:schemeClr>
                </a:solidFill>
              </a:rPr>
              <a:t>design</a:t>
            </a:r>
            <a:r>
              <a:rPr lang="en-GB" dirty="0">
                <a:solidFill>
                  <a:schemeClr val="tx1">
                    <a:lumMod val="95000"/>
                  </a:schemeClr>
                </a:solidFill>
              </a:rPr>
              <a:t>, feedback submission, and clear navigation</a:t>
            </a:r>
            <a:r>
              <a:rPr lang="en-GB" dirty="0"/>
              <a:t>.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961800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70732" y="556017"/>
            <a:ext cx="5480988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0078D7"/>
                </a:solidFill>
              </a:defRPr>
            </a:pPr>
            <a:r>
              <a:rPr lang="en-US" sz="4000" b="1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System Flow Diagram</a:t>
            </a:r>
            <a:endParaRPr lang="en-US" sz="4000" b="1" dirty="0"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891666" y="1552521"/>
            <a:ext cx="10412133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1E1E1E"/>
                </a:solidFill>
              </a:defRPr>
            </a:pPr>
            <a:r>
              <a:rPr lang="en-GB" sz="2400" dirty="0">
                <a:solidFill>
                  <a:schemeClr val="tx1">
                    <a:lumMod val="95000"/>
                  </a:schemeClr>
                </a:solidFill>
              </a:rPr>
              <a:t>This diagram shows the flow of the quiz application from Home Page to Quiz Engine, Scoring and Results</a:t>
            </a:r>
            <a:r>
              <a:rPr lang="en-GB" dirty="0">
                <a:solidFill>
                  <a:schemeClr val="tx1">
                    <a:lumMod val="95000"/>
                  </a:schemeClr>
                </a:solidFill>
              </a:rPr>
              <a:t>.</a:t>
            </a:r>
            <a:endParaRPr lang="en-GB" dirty="0">
              <a:solidFill>
                <a:schemeClr val="tx1">
                  <a:lumMod val="95000"/>
                </a:schemeClr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670732" y="3380023"/>
            <a:ext cx="1804793" cy="914400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800">
                <a:solidFill>
                  <a:srgbClr val="FFFFFF"/>
                </a:solidFill>
              </a:defRPr>
            </a:pPr>
            <a:r>
              <a:rPr dirty="0"/>
              <a:t>Home Page</a:t>
            </a:r>
          </a:p>
        </p:txBody>
      </p:sp>
      <p:sp>
        <p:nvSpPr>
          <p:cNvPr id="5" name="Rectangle 4"/>
          <p:cNvSpPr/>
          <p:nvPr/>
        </p:nvSpPr>
        <p:spPr>
          <a:xfrm>
            <a:off x="3740323" y="3380023"/>
            <a:ext cx="1554480" cy="914400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800">
                <a:solidFill>
                  <a:srgbClr val="FFFFFF"/>
                </a:solidFill>
              </a:defRPr>
            </a:pPr>
            <a:r>
              <a:t>Quiz Engine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6744821" y="3380023"/>
            <a:ext cx="1554480" cy="914400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800">
                <a:solidFill>
                  <a:srgbClr val="FFFFFF"/>
                </a:solidFill>
              </a:defRPr>
            </a:pPr>
            <a:r>
              <a:rPr dirty="0"/>
              <a:t>Score Calculator</a:t>
            </a:r>
          </a:p>
        </p:txBody>
      </p:sp>
      <p:sp>
        <p:nvSpPr>
          <p:cNvPr id="7" name="Rectangle 6"/>
          <p:cNvSpPr/>
          <p:nvPr/>
        </p:nvSpPr>
        <p:spPr>
          <a:xfrm>
            <a:off x="9749319" y="3380023"/>
            <a:ext cx="1554480" cy="914400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800">
                <a:solidFill>
                  <a:srgbClr val="FFFFFF"/>
                </a:solidFill>
              </a:defRPr>
            </a:pPr>
            <a:r>
              <a:rPr dirty="0"/>
              <a:t>Results</a:t>
            </a:r>
          </a:p>
        </p:txBody>
      </p:sp>
      <p:sp>
        <p:nvSpPr>
          <p:cNvPr id="8" name="Right Arrow 7"/>
          <p:cNvSpPr/>
          <p:nvPr/>
        </p:nvSpPr>
        <p:spPr>
          <a:xfrm>
            <a:off x="2760659" y="3602716"/>
            <a:ext cx="694530" cy="457200"/>
          </a:xfrm>
          <a:prstGeom prst="rightArrow">
            <a:avLst/>
          </a:prstGeom>
          <a:gradFill flip="none" rotWithShape="1">
            <a:gsLst>
              <a:gs pos="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ight Arrow 8"/>
          <p:cNvSpPr/>
          <p:nvPr/>
        </p:nvSpPr>
        <p:spPr>
          <a:xfrm>
            <a:off x="8708468" y="3608623"/>
            <a:ext cx="694530" cy="457200"/>
          </a:xfrm>
          <a:prstGeom prst="rightArrow">
            <a:avLst/>
          </a:prstGeom>
          <a:gradFill flip="none" rotWithShape="1">
            <a:gsLst>
              <a:gs pos="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Arrow 9"/>
          <p:cNvSpPr/>
          <p:nvPr/>
        </p:nvSpPr>
        <p:spPr>
          <a:xfrm>
            <a:off x="5703970" y="3602716"/>
            <a:ext cx="694530" cy="457200"/>
          </a:xfrm>
          <a:prstGeom prst="rightArrow">
            <a:avLst/>
          </a:prstGeom>
          <a:gradFill flip="none" rotWithShape="1">
            <a:gsLst>
              <a:gs pos="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76516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02170" y="509829"/>
            <a:ext cx="3110147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000" b="1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Home Page</a:t>
            </a:r>
          </a:p>
        </p:txBody>
      </p:sp>
      <p:sp>
        <p:nvSpPr>
          <p:cNvPr id="3" name="Rectangle 2"/>
          <p:cNvSpPr/>
          <p:nvPr/>
        </p:nvSpPr>
        <p:spPr>
          <a:xfrm>
            <a:off x="802170" y="1478843"/>
            <a:ext cx="10442713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E6E6E6"/>
                </a:solidFill>
              </a:defRPr>
            </a:pPr>
            <a:r>
              <a:rPr lang="en-GB" dirty="0">
                <a:solidFill>
                  <a:schemeClr val="tx1">
                    <a:lumMod val="95000"/>
                  </a:schemeClr>
                </a:solidFill>
              </a:rPr>
              <a:t>The Home Page provides users with category-based quiz selection. </a:t>
            </a:r>
            <a:r>
              <a:rPr lang="en-GB" dirty="0" smtClean="0">
                <a:solidFill>
                  <a:schemeClr val="tx1">
                    <a:lumMod val="95000"/>
                  </a:schemeClr>
                </a:solidFill>
              </a:rPr>
              <a:t>Its </a:t>
            </a:r>
            <a:r>
              <a:rPr lang="en-GB" dirty="0">
                <a:solidFill>
                  <a:schemeClr val="tx1">
                    <a:lumMod val="95000"/>
                  </a:schemeClr>
                </a:solidFill>
              </a:rPr>
              <a:t>clean UI and structured layout help users quickly choose between </a:t>
            </a:r>
            <a:r>
              <a:rPr lang="en-GB" dirty="0" smtClean="0">
                <a:solidFill>
                  <a:schemeClr val="tx1">
                    <a:lumMod val="95000"/>
                  </a:schemeClr>
                </a:solidFill>
              </a:rPr>
              <a:t>HTML</a:t>
            </a:r>
            <a:r>
              <a:rPr lang="en-GB" dirty="0">
                <a:solidFill>
                  <a:schemeClr val="tx1">
                    <a:lumMod val="95000"/>
                  </a:schemeClr>
                </a:solidFill>
              </a:rPr>
              <a:t>, CSS, JavaScript, Python, C/C++, and Java.</a:t>
            </a:r>
            <a:endParaRPr lang="en-GB" dirty="0">
              <a:solidFill>
                <a:schemeClr val="tx1">
                  <a:lumMod val="95000"/>
                </a:schemeClr>
              </a:solidFill>
            </a:endParaRPr>
          </a:p>
        </p:txBody>
      </p:sp>
      <p:pic>
        <p:nvPicPr>
          <p:cNvPr id="4" name="Picture 3" descr="Screenshot 2025-11-16 2318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04661" y="3106551"/>
            <a:ext cx="6858000" cy="29709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52510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78614" y="636684"/>
            <a:ext cx="3664786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000" b="1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Quiz Interface</a:t>
            </a:r>
          </a:p>
        </p:txBody>
      </p:sp>
      <p:sp>
        <p:nvSpPr>
          <p:cNvPr id="3" name="Rectangle 2"/>
          <p:cNvSpPr/>
          <p:nvPr/>
        </p:nvSpPr>
        <p:spPr>
          <a:xfrm>
            <a:off x="678614" y="1656522"/>
            <a:ext cx="11380863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E6E6E6"/>
                </a:solidFill>
              </a:defRPr>
            </a:pPr>
            <a:r>
              <a:rPr lang="en-GB" dirty="0">
                <a:solidFill>
                  <a:schemeClr val="tx1">
                    <a:lumMod val="95000"/>
                  </a:schemeClr>
                </a:solidFill>
              </a:rPr>
              <a:t>This interface displays questions and multiple-choice options. </a:t>
            </a:r>
            <a:r>
              <a:rPr lang="en-GB" dirty="0" smtClean="0">
                <a:solidFill>
                  <a:schemeClr val="tx1">
                    <a:lumMod val="95000"/>
                  </a:schemeClr>
                </a:solidFill>
              </a:rPr>
              <a:t>It </a:t>
            </a:r>
            <a:r>
              <a:rPr lang="en-GB" dirty="0">
                <a:solidFill>
                  <a:schemeClr val="tx1">
                    <a:lumMod val="95000"/>
                  </a:schemeClr>
                </a:solidFill>
              </a:rPr>
              <a:t>highlights correct and incorrect answers with immediate </a:t>
            </a:r>
            <a:r>
              <a:rPr lang="en-GB" dirty="0" smtClean="0">
                <a:solidFill>
                  <a:schemeClr val="tx1">
                    <a:lumMod val="95000"/>
                  </a:schemeClr>
                </a:solidFill>
              </a:rPr>
              <a:t>visual </a:t>
            </a:r>
            <a:r>
              <a:rPr lang="en-GB" dirty="0">
                <a:solidFill>
                  <a:schemeClr val="tx1">
                    <a:lumMod val="95000"/>
                  </a:schemeClr>
                </a:solidFill>
              </a:rPr>
              <a:t>feedback, enhancing learning.</a:t>
            </a:r>
            <a:endParaRPr lang="en-GB" dirty="0">
              <a:solidFill>
                <a:schemeClr val="tx1">
                  <a:lumMod val="95000"/>
                </a:schemeClr>
              </a:solidFill>
            </a:endParaRPr>
          </a:p>
        </p:txBody>
      </p:sp>
      <p:pic>
        <p:nvPicPr>
          <p:cNvPr id="4" name="Picture 3" descr="7af83bf2-362a-42ab-99b0-395312586d6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1007" y="3047041"/>
            <a:ext cx="6858000" cy="32140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17041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64695" y="580646"/>
            <a:ext cx="6322565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000" b="1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Correct Answer Highlight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618544"/>
            <a:ext cx="9475304" cy="7138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E6E6E6"/>
                </a:solidFill>
              </a:defRPr>
            </a:pPr>
            <a:r>
              <a:rPr lang="en-GB" dirty="0">
                <a:solidFill>
                  <a:schemeClr val="tx1">
                    <a:lumMod val="95000"/>
                  </a:schemeClr>
                </a:solidFill>
              </a:rPr>
              <a:t>The correct answer is highlighted with a positive message, </a:t>
            </a:r>
            <a:r>
              <a:rPr lang="en-GB" dirty="0" smtClean="0">
                <a:solidFill>
                  <a:schemeClr val="tx1">
                    <a:lumMod val="95000"/>
                  </a:schemeClr>
                </a:solidFill>
              </a:rPr>
              <a:t>helping </a:t>
            </a:r>
            <a:r>
              <a:rPr lang="en-GB" dirty="0">
                <a:solidFill>
                  <a:schemeClr val="tx1">
                    <a:lumMod val="95000"/>
                  </a:schemeClr>
                </a:solidFill>
              </a:rPr>
              <a:t>users learn instantly and identify mistakes</a:t>
            </a:r>
            <a:endParaRPr lang="en-US" dirty="0">
              <a:solidFill>
                <a:schemeClr val="tx1">
                  <a:lumMod val="95000"/>
                </a:schemeClr>
              </a:solidFill>
            </a:endParaRPr>
          </a:p>
        </p:txBody>
      </p:sp>
      <p:pic>
        <p:nvPicPr>
          <p:cNvPr id="4" name="Picture 3" descr="97143d46-439e-4517-affe-45985e18ad7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3052" y="2915478"/>
            <a:ext cx="6858000" cy="33200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99721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914400" y="631402"/>
            <a:ext cx="3414717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000" b="1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Leaderboard</a:t>
            </a:r>
          </a:p>
        </p:txBody>
      </p:sp>
      <p:sp>
        <p:nvSpPr>
          <p:cNvPr id="3" name="Rectangle 2"/>
          <p:cNvSpPr/>
          <p:nvPr/>
        </p:nvSpPr>
        <p:spPr>
          <a:xfrm>
            <a:off x="1040294" y="1556197"/>
            <a:ext cx="9799983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E6E6E6"/>
                </a:solidFill>
              </a:defRPr>
            </a:pPr>
            <a:r>
              <a:rPr lang="en-GB" dirty="0">
                <a:solidFill>
                  <a:schemeClr val="tx1">
                    <a:lumMod val="95000"/>
                    <a:lumOff val="5000"/>
                  </a:schemeClr>
                </a:solidFill>
              </a:rPr>
              <a:t>The </a:t>
            </a:r>
            <a:r>
              <a:rPr lang="en-GB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leaderboard</a:t>
            </a:r>
            <a:r>
              <a:rPr lang="en-GB" dirty="0">
                <a:solidFill>
                  <a:schemeClr val="tx1">
                    <a:lumMod val="95000"/>
                    <a:lumOff val="5000"/>
                  </a:schemeClr>
                </a:solidFill>
              </a:rPr>
              <a:t> shows the user's total </a:t>
            </a:r>
            <a:r>
              <a:rPr lang="en-GB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score. It </a:t>
            </a:r>
            <a:r>
              <a:rPr lang="en-GB" dirty="0">
                <a:solidFill>
                  <a:schemeClr val="tx1">
                    <a:lumMod val="95000"/>
                    <a:lumOff val="5000"/>
                  </a:schemeClr>
                </a:solidFill>
              </a:rPr>
              <a:t>helps track performance and encourages users to retry and improve.</a:t>
            </a:r>
            <a:endParaRPr lang="en-GB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pic>
        <p:nvPicPr>
          <p:cNvPr id="4" name="Picture 3" descr="d830fa95-235a-4b74-86dc-bbc805cf123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5635" y="3087757"/>
            <a:ext cx="6858000" cy="2974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83281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11945" y="553973"/>
            <a:ext cx="5953874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000" b="1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UML Use Case Diagram</a:t>
            </a:r>
            <a:endParaRPr lang="en-US" sz="4000" b="1" dirty="0"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769166" y="2993306"/>
            <a:ext cx="1371600" cy="914400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67000"/>
                </a:schemeClr>
              </a:gs>
              <a:gs pos="48000">
                <a:schemeClr val="accent3">
                  <a:lumMod val="97000"/>
                  <a:lumOff val="3000"/>
                </a:schemeClr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User</a:t>
            </a:r>
          </a:p>
        </p:txBody>
      </p:sp>
      <p:sp>
        <p:nvSpPr>
          <p:cNvPr id="5" name="Rectangle 4"/>
          <p:cNvSpPr/>
          <p:nvPr/>
        </p:nvSpPr>
        <p:spPr>
          <a:xfrm>
            <a:off x="6893771" y="2993306"/>
            <a:ext cx="2286000" cy="914400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67000"/>
                </a:schemeClr>
              </a:gs>
              <a:gs pos="48000">
                <a:schemeClr val="accent3">
                  <a:lumMod val="97000"/>
                  <a:lumOff val="3000"/>
                </a:schemeClr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rPr dirty="0"/>
              <a:t>Attempt Questions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5979371" y="4989535"/>
            <a:ext cx="1828800" cy="914400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67000"/>
                </a:schemeClr>
              </a:gs>
              <a:gs pos="48000">
                <a:schemeClr val="accent3">
                  <a:lumMod val="97000"/>
                  <a:lumOff val="3000"/>
                </a:schemeClr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rPr dirty="0"/>
              <a:t>View Results</a:t>
            </a:r>
          </a:p>
        </p:txBody>
      </p:sp>
      <p:sp>
        <p:nvSpPr>
          <p:cNvPr id="7" name="Rectangle 6"/>
          <p:cNvSpPr/>
          <p:nvPr/>
        </p:nvSpPr>
        <p:spPr>
          <a:xfrm>
            <a:off x="5979371" y="1436087"/>
            <a:ext cx="1828800" cy="914400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67000"/>
                </a:schemeClr>
              </a:gs>
              <a:gs pos="48000">
                <a:schemeClr val="accent3">
                  <a:lumMod val="97000"/>
                  <a:lumOff val="3000"/>
                </a:schemeClr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rPr dirty="0"/>
              <a:t>Select Quiz</a:t>
            </a:r>
          </a:p>
        </p:txBody>
      </p:sp>
      <p:sp>
        <p:nvSpPr>
          <p:cNvPr id="8" name="Right Arrow 7"/>
          <p:cNvSpPr/>
          <p:nvPr/>
        </p:nvSpPr>
        <p:spPr>
          <a:xfrm>
            <a:off x="3975473" y="3172686"/>
            <a:ext cx="1193111" cy="630688"/>
          </a:xfrm>
          <a:prstGeom prst="rightArrow">
            <a:avLst/>
          </a:prstGeom>
          <a:gradFill flip="none" rotWithShape="1">
            <a:gsLst>
              <a:gs pos="0">
                <a:schemeClr val="accent3">
                  <a:lumMod val="67000"/>
                </a:schemeClr>
              </a:gs>
              <a:gs pos="48000">
                <a:schemeClr val="accent3">
                  <a:lumMod val="97000"/>
                  <a:lumOff val="3000"/>
                </a:schemeClr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ight Arrow 8"/>
          <p:cNvSpPr/>
          <p:nvPr/>
        </p:nvSpPr>
        <p:spPr>
          <a:xfrm rot="1196689">
            <a:off x="3791127" y="4621815"/>
            <a:ext cx="1384252" cy="607030"/>
          </a:xfrm>
          <a:prstGeom prst="rightArrow">
            <a:avLst/>
          </a:prstGeom>
          <a:gradFill flip="none" rotWithShape="1">
            <a:gsLst>
              <a:gs pos="0">
                <a:schemeClr val="accent3">
                  <a:lumMod val="67000"/>
                </a:schemeClr>
              </a:gs>
              <a:gs pos="48000">
                <a:schemeClr val="accent3">
                  <a:lumMod val="97000"/>
                  <a:lumOff val="3000"/>
                </a:schemeClr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Arrow 9"/>
          <p:cNvSpPr/>
          <p:nvPr/>
        </p:nvSpPr>
        <p:spPr>
          <a:xfrm rot="20488671">
            <a:off x="3795062" y="1905115"/>
            <a:ext cx="1282150" cy="624314"/>
          </a:xfrm>
          <a:prstGeom prst="rightArrow">
            <a:avLst/>
          </a:prstGeom>
          <a:gradFill flip="none" rotWithShape="1">
            <a:gsLst>
              <a:gs pos="0">
                <a:schemeClr val="accent3">
                  <a:lumMod val="67000"/>
                </a:schemeClr>
              </a:gs>
              <a:gs pos="48000">
                <a:schemeClr val="accent3">
                  <a:lumMod val="97000"/>
                  <a:lumOff val="3000"/>
                </a:schemeClr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08138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914400" y="554143"/>
            <a:ext cx="4095993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000" b="1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Feedback Form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539965"/>
            <a:ext cx="10508974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E6E6E6"/>
                </a:solidFill>
              </a:defRPr>
            </a:pPr>
            <a:r>
              <a:rPr lang="en-GB" dirty="0">
                <a:solidFill>
                  <a:schemeClr val="tx1">
                    <a:lumMod val="95000"/>
                    <a:lumOff val="5000"/>
                  </a:schemeClr>
                </a:solidFill>
              </a:rPr>
              <a:t>Users can provide helpful insights through this feedback form. </a:t>
            </a:r>
            <a:r>
              <a:rPr lang="en-GB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They </a:t>
            </a:r>
            <a:r>
              <a:rPr lang="en-GB" dirty="0">
                <a:solidFill>
                  <a:schemeClr val="tx1">
                    <a:lumMod val="95000"/>
                    <a:lumOff val="5000"/>
                  </a:schemeClr>
                </a:solidFill>
              </a:rPr>
              <a:t>can report issues, rate quiz difficulty, and suggest </a:t>
            </a:r>
            <a:r>
              <a:rPr lang="en-GB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improvements </a:t>
            </a:r>
            <a:r>
              <a:rPr lang="en-GB" dirty="0">
                <a:solidFill>
                  <a:schemeClr val="tx1">
                    <a:lumMod val="95000"/>
                    <a:lumOff val="5000"/>
                  </a:schemeClr>
                </a:solidFill>
              </a:rPr>
              <a:t>for future updates.</a:t>
            </a:r>
            <a:endParaRPr lang="en-GB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pic>
        <p:nvPicPr>
          <p:cNvPr id="4" name="Picture 3" descr="Screenshot 2025-11-16 23183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8400" y="2980780"/>
            <a:ext cx="6858000" cy="3052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75292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914400" y="585313"/>
            <a:ext cx="6077305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000" b="1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Feedback Confirmation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1391476" y="1688130"/>
            <a:ext cx="9833113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E6E6E6"/>
                </a:solidFill>
              </a:defRPr>
            </a:pPr>
            <a:r>
              <a:rPr lang="en-GB" dirty="0">
                <a:solidFill>
                  <a:schemeClr val="tx1">
                    <a:lumMod val="95000"/>
                    <a:lumOff val="5000"/>
                  </a:schemeClr>
                </a:solidFill>
              </a:rPr>
              <a:t>After submitting feedback, a clean popup confirmation message is </a:t>
            </a:r>
            <a:r>
              <a:rPr lang="en-GB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shown </a:t>
            </a:r>
            <a:r>
              <a:rPr lang="en-GB" dirty="0">
                <a:solidFill>
                  <a:schemeClr val="tx1">
                    <a:lumMod val="95000"/>
                    <a:lumOff val="5000"/>
                  </a:schemeClr>
                </a:solidFill>
              </a:rPr>
              <a:t>to reassure users that their response has been recorded </a:t>
            </a:r>
            <a:r>
              <a:rPr lang="en-GB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successfully</a:t>
            </a:r>
            <a:r>
              <a:rPr lang="en-GB" dirty="0">
                <a:solidFill>
                  <a:schemeClr val="tx1">
                    <a:lumMod val="95000"/>
                    <a:lumOff val="5000"/>
                  </a:schemeClr>
                </a:solidFill>
              </a:rPr>
              <a:t>.</a:t>
            </a:r>
            <a:endParaRPr lang="en-GB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pic>
        <p:nvPicPr>
          <p:cNvPr id="4" name="Picture 3" descr="Screenshot 2025-11-16 23185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9033" y="3091425"/>
            <a:ext cx="6858000" cy="2655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56788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914400" y="699916"/>
            <a:ext cx="3223959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000" b="1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FAQ Section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1285461" y="1527073"/>
            <a:ext cx="10522225" cy="12926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GB" dirty="0" smtClean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>
              <a:defRPr sz="2000">
                <a:solidFill>
                  <a:srgbClr val="E6E6E6"/>
                </a:solidFill>
              </a:defRPr>
            </a:pPr>
            <a:r>
              <a:rPr lang="en-GB" dirty="0">
                <a:solidFill>
                  <a:schemeClr val="tx1">
                    <a:lumMod val="95000"/>
                    <a:lumOff val="5000"/>
                  </a:schemeClr>
                </a:solidFill>
              </a:rPr>
              <a:t>The FAQ section explains how to navigate the quiz, how results </a:t>
            </a:r>
            <a:r>
              <a:rPr lang="en-GB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work</a:t>
            </a:r>
            <a:r>
              <a:rPr lang="en-GB" dirty="0">
                <a:solidFill>
                  <a:schemeClr val="tx1">
                    <a:lumMod val="95000"/>
                    <a:lumOff val="5000"/>
                  </a:schemeClr>
                </a:solidFill>
              </a:rPr>
              <a:t>, and how users can create or retry </a:t>
            </a:r>
            <a:r>
              <a:rPr lang="en-GB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quizzes. It </a:t>
            </a:r>
            <a:r>
              <a:rPr lang="en-GB" dirty="0">
                <a:solidFill>
                  <a:schemeClr val="tx1">
                    <a:lumMod val="95000"/>
                    <a:lumOff val="5000"/>
                  </a:schemeClr>
                </a:solidFill>
              </a:rPr>
              <a:t>guides beginners effectively.</a:t>
            </a:r>
          </a:p>
          <a:p>
            <a:pPr>
              <a:defRPr sz="2000">
                <a:solidFill>
                  <a:srgbClr val="E6E6E6"/>
                </a:solidFill>
              </a:defRPr>
            </a:pPr>
            <a:endParaRPr lang="en-GB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pic>
        <p:nvPicPr>
          <p:cNvPr id="4" name="Picture 3" descr="Screenshot 2025-11-16 2318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94991" y="3194675"/>
            <a:ext cx="6858000" cy="2874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51306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173356" y="2610678"/>
            <a:ext cx="76200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8000" dirty="0" smtClean="0">
                <a:latin typeface="Century" panose="02040604050505020304" pitchFamily="18" charset="0"/>
              </a:rPr>
              <a:t>Thank You</a:t>
            </a:r>
            <a:endParaRPr lang="en-US" sz="8000" dirty="0">
              <a:latin typeface="Century" panose="020406040505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152537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avon">
  <a:themeElements>
    <a:clrScheme name="Savon">
      <a:dk1>
        <a:sysClr val="windowText" lastClr="000000"/>
      </a:dk1>
      <a:lt1>
        <a:sysClr val="window" lastClr="FFFFFF"/>
      </a:lt1>
      <a:dk2>
        <a:srgbClr val="455F51"/>
      </a:dk2>
      <a:lt2>
        <a:srgbClr val="E3DED1"/>
      </a:lt2>
      <a:accent1>
        <a:srgbClr val="549E39"/>
      </a:accent1>
      <a:accent2>
        <a:srgbClr val="8AB833"/>
      </a:accent2>
      <a:accent3>
        <a:srgbClr val="C0CF3A"/>
      </a:accent3>
      <a:accent4>
        <a:srgbClr val="029676"/>
      </a:accent4>
      <a:accent5>
        <a:srgbClr val="4AB5C4"/>
      </a:accent5>
      <a:accent6>
        <a:srgbClr val="0989B1"/>
      </a:accent6>
      <a:hlink>
        <a:srgbClr val="6B9F25"/>
      </a:hlink>
      <a:folHlink>
        <a:srgbClr val="B26B02"/>
      </a:folHlink>
    </a:clrScheme>
    <a:fontScheme name="Savon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Savo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5000"/>
                <a:lumMod val="105000"/>
              </a:schemeClr>
            </a:gs>
            <a:gs pos="100000">
              <a:schemeClr val="phClr">
                <a:tint val="65000"/>
                <a:satMod val="100000"/>
                <a:lumMod val="10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0000"/>
                <a:lumMod val="100000"/>
              </a:schemeClr>
            </a:gs>
            <a:gs pos="50000">
              <a:schemeClr val="phClr">
                <a:shade val="99000"/>
                <a:satMod val="105000"/>
                <a:lumMod val="100000"/>
              </a:schemeClr>
            </a:gs>
            <a:gs pos="100000">
              <a:schemeClr val="phClr">
                <a:shade val="98000"/>
                <a:satMod val="105000"/>
                <a:lumMod val="100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12700" dir="5400000" algn="ctr" rotWithShape="0">
              <a:srgbClr val="000000">
                <a:alpha val="63000"/>
              </a:srgbClr>
            </a:outerShdw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4200000"/>
            </a:lightRig>
          </a:scene3d>
          <a:sp3d prstMaterial="flat">
            <a:bevelT w="50800" h="63500" prst="rible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hade val="100000"/>
                <a:satMod val="300000"/>
              </a:schemeClr>
            </a:gs>
            <a:gs pos="100000">
              <a:schemeClr val="phClr">
                <a:tint val="100000"/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2000"/>
                <a:satMod val="115000"/>
              </a:schemeClr>
            </a:duotone>
          </a:blip>
          <a:tile tx="0" ty="0" sx="60000" sy="6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avon" id="{1306E473-ED32-493B-A2D0-240A757EDD34}" vid="{6728D11B-929E-4324-91B0-4A4DA4CAC3D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TM03457510[[fn=Savon]]</Template>
  <TotalTime>54</TotalTime>
  <Words>310</Words>
  <Application>Microsoft Office PowerPoint</Application>
  <PresentationFormat>Widescreen</PresentationFormat>
  <Paragraphs>38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Century</vt:lpstr>
      <vt:lpstr>Century Gothic</vt:lpstr>
      <vt:lpstr>Savon</vt:lpstr>
      <vt:lpstr>Interactive Quiz Application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Interactive Quiz Application</dc:title>
  <dc:creator>user</dc:creator>
  <cp:lastModifiedBy>user</cp:lastModifiedBy>
  <cp:revision>6</cp:revision>
  <dcterms:created xsi:type="dcterms:W3CDTF">2025-11-16T19:52:04Z</dcterms:created>
  <dcterms:modified xsi:type="dcterms:W3CDTF">2025-11-16T20:46:05Z</dcterms:modified>
</cp:coreProperties>
</file>